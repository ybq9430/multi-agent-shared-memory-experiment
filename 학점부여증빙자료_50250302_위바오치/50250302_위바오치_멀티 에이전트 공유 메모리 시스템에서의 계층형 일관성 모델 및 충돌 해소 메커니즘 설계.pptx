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2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各位老师好！我是YU BAOQI，我的硕士论文题目是「多智能体共享内存系统中的层次一致性模型与冲突解决机制」，指导教授是白建孝教授。今天我将用大约4分钟的时间汇报我的研究工作。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先介绍研究背景。随着大语言模型的发展，多智能体协作系统成为趋势，但多个Agent同时访问共享内存时会产生三种冲突：可见性冲突——Agent读到过期数据；顺序性冲突——旧版本覆盖新版本；语义冲突——相反的文本结论相互矛盾。现有研究缺乏对这三类冲突的形式化定义和系统性的解决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基于此，我提出了五个研究问题：能否精确检测三种冲突？层次一致性是否优于单一一致性？四种策略哪种最有效？LLM能否检测语义冲突？各模块的独立贡献度如何？核心目标是设计一个集成方案并通过8组对比实验来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接下来介绍实验环境。系统分为六层架构：智能体层包含Planner、Executor、Reviewer和Judge Agent；冲突层负责检测和解决；一致性层实现三种模型；策略层提供四种方案；存储层使用SQLite；评估层进行指标统计。数据流从场景生成器开始，经过Agents写入、冲突检测、结构筛选、Judge语义判断，最后到指标收集。技术栈使用Python 3.12、SQLite WAL模式、DeepSeek-chat API，共运行720次实验。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结构方面，项目包含26个Python文件，分为6个核心模块包。重点介绍几个关键组件：SharedMemoryStore实现SQLite的版本管理读写；ConflictResolver整合了四阶段流水线——检测、结构筛选、Judge、最终决策；JudgeAgent调用DeepSeek API进行语义判断；ScenarioGenerator生成三种冲突场景。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实验设计方面，我构建了8个比较组。G1是Baseline，仅用Last-Write-Wins；G2仅强一致性；G3到G5分别测试时间戳、信任度、领导者三种单一策略；G6和G7是消融实验组，分别移除Judge Agent和预过滤器；G8是完整方案，包含所有组件。每组运行三个场景各30次，共720次实验。评价指标包括准确率、一致性维持率、任务成功率和平均延迟。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设计是层次一致性模型。工作内存存储实时协作信息，采用锁机制的强一致性，保证所有读写串行执行。长期内存存储积累性知识，采用非阻塞的最终一致性，冲突时以Last-Write-Wins收敛。这种设计兼顾了实时协作的正确性和知识积累的扩展性，还支持工作内存验证后升级到长期内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冲突解决采用三阶段管道。第一阶段检测：对比Agent版本状态判断可见性和顺序性冲突。第二阶段结构预过滤：应用时间戳、信任度或领导者策略筛选，快速解决结构性冲突。第三阶段Judge Agent：仅对自然语言文本调用DeepSeek API做语义判断，避免不必要的LLM调用。关键设计是needs_semantic_check函数，精确识别需要语义判断的场景。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在展示实验结果。完整方案实现了93.3%的准确率，比Baseline提升22.2个百分点。所有配备冲突检测的组都达到100%一致性维持率，而Baseline和StrongOnly为0%。在延迟方面，完整方案平均478.7毫秒，比无预过滤方案低3.1倍。时间戳优先策略以91.1%的准确率成为最优结构性策略。这个结果证明冲突检测是一致性的必要条件，而预过滤是效率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场景分析显示，时间戳优先和完整方案在同时写入和顺序冲突场景达到100%准确率。而在语义冲突场景，只有包含Judge Agent的组才能达到80%的准确率。消融实验进一步证明：移除Judge Agent导致语义准确率下降6.67个百分点；移除预过滤导致LLM调用量暴涨200%，同时写入准确率降至46.7%。这证明预过滤和Judge Agent是互补的，两者结合才能达到最优平衡。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延迟分析方面，G1到G6组在所有场景下延迟都低于10毫秒，因为它们都是纯结构性处理。G7因为每次运行都调用LLM，延迟高达1300到1700毫秒。完整方案在结构性冲突时保持低延迟，仅在语义冲突时才调用LLM，实现了性能和成本的平衡。这充分说明预过滤器在真实系统中对降低延迟、减少变异性和节省API成本具有重要实用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总结我的五项核心贡献：第一，形式化定义了三种冲突类型及其检测条件；第二，提出并实现了层次一致性模型；第三，集成了三阶段冲突解决管道；第四，通过8组对比实验和消融实验系统性地验证了方案有效性；第五，实验证明了完整方案达到93.3%准确率、100%一致性维持率、延迟改善3.1倍。感谢各位老师的聆听，欢迎提问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91695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17720"/>
            <a:ext cx="12191695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77645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0F0F0"/>
                </a:solidFill>
              </a:defRPr>
            </a:pPr>
            <a:r>
              <a:t>多智能体共享内存系统中的</a:t>
            </a:r>
            <a:br/>
            <a:r>
              <a:t>层次一致性模型与冲突解决机制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440" y="3429000"/>
            <a:ext cx="10058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DDEE"/>
                </a:solidFill>
              </a:defRPr>
            </a:pPr>
            <a:r>
              <a:rPr sz="2000"/>
              <a:t>멀티 에이전트 공유 메모리 시스템에서의 계층형 일관성 모델 및 충돌 해소 메커니즘 설계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97280" y="5177790"/>
            <a:ext cx="100584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YU BAOQI (위바오치)    </a:t>
            </a:r>
          </a:p>
          <a:p>
            <a:pPr algn="ctr">
              <a:defRPr sz="2000">
                <a:solidFill>
                  <a:srgbClr val="F0F0F0"/>
                </a:solidFill>
              </a:defRPr>
            </a:pPr>
            <a:r>
              <a:t>2026年 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0F0"/>
                </a:solidFill>
              </a:defRPr>
            </a:pPr>
            <a:r>
              <a:t>研究背景与研究动机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연구 배경 및 연구 동기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573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64240" cy="530352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🔬 背景与动机  |  배경 및 동기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▎LLM多智能体协作成为主流范式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LLM 기반 멀티 에이전트 협업이 주류 패러다임으로 부상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▎共享内存是Agent信息同步的核心基础设施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공유 메모리는 에이전트 간 상태 동기화의 핵심 인프라</a:t>
            </a:r>
          </a:p>
          <a:p>
            <a:pPr>
              <a:spcBef>
                <a:spcPts val="100"/>
              </a:spcBef>
              <a:defRPr sz="6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▎三大冲突类型威胁共享内存的可靠性：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세 가지 충돌 유형이 공유 메모리의 신뢰성을 위협: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   ① 可见性冲突 (Visibility) — Agent读取到过期数据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① 가시성 충돌 — 에이전트가 오래된 데이터를 읽음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   ② 顺序性冲突 (Ordering) — 旧版本覆盖已更新的新版本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② 순서성 충돌 — 과거 버전이 최신 값을 덮어씀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   ③ 语义冲突 (Semantic) — 互为矛盾的文本结论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③ 의미적 충돌 — 상반된 자연어 결론이 모순됨</a:t>
            </a:r>
          </a:p>
          <a:p>
            <a:pPr>
              <a:spcBef>
                <a:spcPts val="100"/>
              </a:spcBef>
              <a:defRPr sz="6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▎现有研究空白：缺乏形式化定义 + 策略系统性比较 + 语义层面处理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기존 연구 한계: 형식적 정의 부족, 전략 비교 미비, 의미 충돌 처리 미흡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0F0"/>
                </a:solidFill>
              </a:defRPr>
            </a:pPr>
            <a:r>
              <a:t>研究问题与研究目标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연구 문제 및 연구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573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6858000" cy="530352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📋 五大研究问题  |  5가지 연구 문제 (RQ1~RQ5)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RQ1: 能否精确检测并解决三种冲突类型？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RQ2: 层次一致性模型是否优于单一一致性模型？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RQ3: 时间戳/信任度/领导者/Judge 四种策略中哪种最有效？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RQ4: LLM Judge Agent 能否有效检测语义冲突？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RQ5: 消融实验能否分离各模块的独立贡献度？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34440"/>
            <a:ext cx="4114800" cy="530352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🎯 研究目标  |  연구 목표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① 形式化定义三种冲突类型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② 设计层次一致性模型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③ 集成三阶段冲突解决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④ 实现8组对比实验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⑤ 消融实验量化模块贡献</a:t>
            </a:r>
          </a:p>
          <a:p>
            <a:pPr>
              <a:spcBef>
                <a:spcPts val="100"/>
              </a:spcBef>
              <a:defRPr sz="6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📐 方法: Design Science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🖥️ 原型: Python + SQLite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🤖 LLM: DeepSeek-chat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➡️ 总: 720次实验运行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0F0"/>
                </a:solidFill>
              </a:defRPr>
            </a:pPr>
            <a:r>
              <a:t>实验环境 (1/3): 系统架构总览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실험 환경 (1/3): 시스템 아키텍처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573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4572000" cy="530352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📦 六层架构  |  6계층 아키텍처</a:t>
            </a:r>
          </a:p>
          <a:p>
            <a:pPr>
              <a:spcBef>
                <a:spcPts val="100"/>
              </a:spcBef>
              <a:defRPr sz="1300" b="1">
                <a:solidFill>
                  <a:srgbClr val="2E86C1"/>
                </a:solidFill>
              </a:defRPr>
            </a:pPr>
            <a:br/>
            <a:r>
              <a:t>▸ Agent 层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 Planner / Executor / Reviewer / JudgeAgent</a:t>
            </a:r>
          </a:p>
          <a:p>
            <a:pPr>
              <a:spcBef>
                <a:spcPts val="100"/>
              </a:spcBef>
              <a:defRPr sz="1300" b="1">
                <a:solidFill>
                  <a:srgbClr val="2E86C1"/>
                </a:solidFill>
              </a:defRPr>
            </a:pPr>
            <a:br/>
            <a:r>
              <a:t>▸ Conflict 层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 ConflictDetector → ConflictResolver (3-Phase)</a:t>
            </a:r>
          </a:p>
          <a:p>
            <a:pPr>
              <a:spcBef>
                <a:spcPts val="100"/>
              </a:spcBef>
              <a:defRPr sz="1300" b="1">
                <a:solidFill>
                  <a:srgbClr val="2E86C1"/>
                </a:solidFill>
              </a:defRPr>
            </a:pPr>
            <a:br/>
            <a:r>
              <a:t>▸ Consistency 层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 Strong | Eventual | Hierarchical</a:t>
            </a:r>
          </a:p>
          <a:p>
            <a:pPr>
              <a:spcBef>
                <a:spcPts val="100"/>
              </a:spcBef>
              <a:defRPr sz="1300" b="1">
                <a:solidFill>
                  <a:srgbClr val="2E86C1"/>
                </a:solidFill>
              </a:defRPr>
            </a:pPr>
            <a:br/>
            <a:r>
              <a:t>▸ Strategy 层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 Timestamp | TrustScore | Leader | Judge</a:t>
            </a:r>
          </a:p>
          <a:p>
            <a:pPr>
              <a:spcBef>
                <a:spcPts val="100"/>
              </a:spcBef>
              <a:defRPr sz="1300" b="1">
                <a:solidFill>
                  <a:srgbClr val="2E86C1"/>
                </a:solidFill>
              </a:defRPr>
            </a:pPr>
            <a:br/>
            <a:r>
              <a:t>▸ Memory 层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 SQLite (WAL): Working Memory + Long-Term Memory</a:t>
            </a:r>
          </a:p>
          <a:p>
            <a:pPr>
              <a:spcBef>
                <a:spcPts val="100"/>
              </a:spcBef>
              <a:defRPr sz="1300" b="1">
                <a:solidFill>
                  <a:srgbClr val="2E86C1"/>
                </a:solidFill>
              </a:defRPr>
            </a:pPr>
            <a:br/>
            <a:r>
              <a:t>▸ Metrics 层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 MetricsCollector → Reporter →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234440"/>
            <a:ext cx="3474720" cy="292608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🔄 数据流  |  데이터 흐름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① 场景生成 → 冲突场景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② Agent写入 → 共享内存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③ 冲突检测 → 版本比对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④ 结构过滤 → 规则筛选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⑤ Judge → LLM语义判断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⑥ 最终决策 → 写回内存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⑦ 指标收集 → 统计分析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4389120"/>
            <a:ext cx="3474720" cy="214884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7AE60"/>
                </a:solidFill>
              </a:defRPr>
            </a:pPr>
            <a:r>
              <a:t>⚙️ 技术栈  |  기술 스택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Python 3.12 · NumPy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SQLite (WAL mode)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DeepSeek-chat API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OpenAI SDK (兼容)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Windows 11 环境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GitHub 开源仓库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234440"/>
            <a:ext cx="2834640" cy="530352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📊 实验规模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8 个比较组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3 种冲突场景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30 次迭代/场景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──</a:t>
            </a:r>
          </a:p>
          <a:p>
            <a:pPr>
              <a:spcBef>
                <a:spcPts val="100"/>
              </a:spcBef>
              <a:defRPr sz="1300" b="1">
                <a:solidFill>
                  <a:srgbClr val="E67E22"/>
                </a:solidFill>
              </a:defRPr>
            </a:pPr>
            <a:br/>
            <a:r>
              <a:t>= 720 次运行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──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3 个 Agent: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Planner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Executor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Reviewer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──</a:t>
            </a:r>
          </a:p>
          <a:p>
            <a:pPr>
              <a:spcBef>
                <a:spcPts val="100"/>
              </a:spcBef>
              <a:defRPr sz="1300" b="0">
                <a:solidFill>
                  <a:srgbClr val="1C1C1C"/>
                </a:solidFill>
              </a:defRPr>
            </a:pPr>
            <a:br/>
            <a:r>
              <a:t>随机种子: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0F0"/>
                </a:solidFill>
              </a:defRPr>
            </a:pPr>
            <a:r>
              <a:t>实验环境 (2/3): 代码结构与核心模块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실험 환경 (2/3): 코드 구조 및 핵심 모듈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573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029200" cy="53035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📁 prototype/ 项目结构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E86C1"/>
                </a:solidFill>
                <a:latin typeface="Consolas" panose="020B0609020204030204"/>
              </a:defRPr>
            </a:pPr>
            <a:r>
              <a:t>prototype/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├── config.py          # 配置常量与API密钥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├── main.py           # 入口: 运行全部实验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E86C1"/>
                </a:solidFill>
                <a:latin typeface="Consolas" panose="020B0609020204030204"/>
              </a:defRPr>
            </a:pPr>
            <a:r>
              <a:t>├── agents/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├── base.py       # BaseAgent (读写/信任度追踪)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├── roles.py      # Planner/Executor/Reviewer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└── judge.py      # JudgeAgent (LLM语义判定)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E86C1"/>
                </a:solidFill>
                <a:latin typeface="Consolas" panose="020B0609020204030204"/>
              </a:defRPr>
            </a:pPr>
            <a:r>
              <a:t>├── memory/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├── models.py     # MemoryEntry, ConflictRecord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└── store.py      # SQLite共享内存存储 (WAL)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E86C1"/>
                </a:solidFill>
                <a:latin typeface="Consolas" panose="020B0609020204030204"/>
              </a:defRPr>
            </a:pPr>
            <a:r>
              <a:t>├── conflict/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├── detector.py   # 结构性冲突检测器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└── resolver.py   # 3阶段冲突解决管道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E86C1"/>
                </a:solidFill>
                <a:latin typeface="Consolas" panose="020B0609020204030204"/>
              </a:defRPr>
            </a:pPr>
            <a:r>
              <a:t>├── consistency/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├── strong.py     # 强一致性 (锁机制)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├── eventual.py   # 最终一致性 (非阻塞)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└── hierarchical.py # 层次一致性 (路由)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E86C1"/>
                </a:solidFill>
                <a:latin typeface="Consolas" panose="020B0609020204030204"/>
              </a:defRPr>
            </a:pPr>
            <a:r>
              <a:t>├── strategies/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├── timestamp.py  # 时间戳优先策略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├── trust_score.py# 信任度优先策略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│   └── leader.py     # 领导者仲裁策略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E86C1"/>
                </a:solidFill>
                <a:latin typeface="Consolas" panose="020B0609020204030204"/>
              </a:defRPr>
            </a:pPr>
            <a:r>
              <a:t>└── experiments/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    ├── runner.py     # ExperimentRunner 主循环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    ├── scenarios.py  # 3种场景 + 15组矛盾语句对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    ├── groups.py     # 8组比较组 ResolverConfig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    ├── metrics.py    # MetricsCollector 指标聚合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6573"/>
                </a:solidFill>
                <a:latin typeface="Consolas" panose="020B0609020204030204"/>
              </a:defRPr>
            </a:pPr>
            <a:r>
              <a:t>    └── reporter.py   # CSV导出与结果打印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234440"/>
            <a:ext cx="6126480" cy="530352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🔑 核心类与方法  |  핵심 클래스 및 함수</a:t>
            </a:r>
          </a:p>
          <a:p>
            <a:pPr>
              <a:spcBef>
                <a:spcPts val="100"/>
              </a:spcBef>
              <a:defRPr sz="1200" b="1">
                <a:solidFill>
                  <a:srgbClr val="2E86C1"/>
                </a:solidFill>
              </a:defRPr>
            </a:pPr>
            <a:br/>
            <a:r>
              <a:t>▸ SharedMemoryStore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    SQLite CRUD, 版本管理, 冲突日志  [store.py]</a:t>
            </a:r>
          </a:p>
          <a:p>
            <a:pPr>
              <a:spcBef>
                <a:spcPts val="100"/>
              </a:spcBef>
              <a:defRPr sz="1200" b="1">
                <a:solidFill>
                  <a:srgbClr val="2E86C1"/>
                </a:solidFill>
              </a:defRPr>
            </a:pPr>
            <a:br/>
            <a:r>
              <a:t>▸ ConflictDetector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    版本对比检测 visibility/ordering  [detector.py]</a:t>
            </a:r>
          </a:p>
          <a:p>
            <a:pPr>
              <a:spcBef>
                <a:spcPts val="100"/>
              </a:spcBef>
              <a:defRPr sz="1200" b="1">
                <a:solidFill>
                  <a:srgbClr val="2E86C1"/>
                </a:solidFill>
              </a:defRPr>
            </a:pPr>
            <a:br/>
            <a:r>
              <a:t>▸ ConflictResolver.resolve()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    4阶段: 检测→过滤→Judge→决策  [resolver.py]</a:t>
            </a:r>
          </a:p>
          <a:p>
            <a:pPr>
              <a:spcBef>
                <a:spcPts val="100"/>
              </a:spcBef>
              <a:defRPr sz="1200" b="1">
                <a:solidFill>
                  <a:srgbClr val="2E86C1"/>
                </a:solidFill>
              </a:defRPr>
            </a:pPr>
            <a:br/>
            <a:r>
              <a:t>▸ ResolverConfig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    布尔标志控制8组配置开关  [resolver.py:L19]</a:t>
            </a:r>
          </a:p>
          <a:p>
            <a:pPr>
              <a:spcBef>
                <a:spcPts val="100"/>
              </a:spcBef>
              <a:defRPr sz="1200" b="1">
                <a:solidFill>
                  <a:srgbClr val="2E86C1"/>
                </a:solidFill>
              </a:defRPr>
            </a:pPr>
            <a:br/>
            <a:r>
              <a:t>▸ JudgeAgent.judge()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    DeepSeek API → JSON解析  [judge.py]</a:t>
            </a:r>
          </a:p>
          <a:p>
            <a:pPr>
              <a:spcBef>
                <a:spcPts val="100"/>
              </a:spcBef>
              <a:defRPr sz="1200" b="1">
                <a:solidFill>
                  <a:srgbClr val="2E86C1"/>
                </a:solidFill>
              </a:defRPr>
            </a:pPr>
            <a:br/>
            <a:r>
              <a:t>▸ ScenarioGenerator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    3种场景 × 15组矛盾语句  [scenarios.py]</a:t>
            </a:r>
          </a:p>
          <a:p>
            <a:pPr>
              <a:spcBef>
                <a:spcPts val="100"/>
              </a:spcBef>
              <a:defRPr sz="1200" b="1">
                <a:solidFill>
                  <a:srgbClr val="2E86C1"/>
                </a:solidFill>
              </a:defRPr>
            </a:pPr>
            <a:br/>
            <a:r>
              <a:t>▸ HierarchicalConsistency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    按 memory_type 自动路由  [hierarchical.py]</a:t>
            </a:r>
          </a:p>
          <a:p>
            <a:pPr>
              <a:spcBef>
                <a:spcPts val="100"/>
              </a:spcBef>
              <a:defRPr sz="1200" b="1">
                <a:solidFill>
                  <a:srgbClr val="2E86C1"/>
                </a:solidFill>
              </a:defRPr>
            </a:pPr>
            <a:br/>
            <a:r>
              <a:t>▸ ExperimentRunner.run_all()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    主循环: 8组 × 3场景 × 30轮  [runner.py]</a:t>
            </a:r>
          </a:p>
          <a:p>
            <a:pPr>
              <a:spcBef>
                <a:spcPts val="100"/>
              </a:spcBef>
              <a:defRPr sz="1200" b="1">
                <a:solidFill>
                  <a:srgbClr val="2E86C1"/>
                </a:solidFill>
              </a:defRPr>
            </a:pPr>
            <a:br/>
            <a:r>
              <a:t>▸ build_groups()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    返回 8 个 ResolverConfig  [groups.py]</a:t>
            </a:r>
          </a:p>
          <a:p>
            <a:pPr>
              <a:spcBef>
                <a:spcPts val="100"/>
              </a:spcBef>
              <a:defRPr sz="1200" b="1">
                <a:solidFill>
                  <a:srgbClr val="2E86C1"/>
                </a:solidFill>
              </a:defRPr>
            </a:pPr>
            <a:br/>
            <a:r>
              <a:t>▸ MetricsCollector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    准确率/一致性/延迟/LLM统计  [metrics.py]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0F0"/>
                </a:solidFill>
              </a:defRPr>
            </a:pPr>
            <a:r>
              <a:t>实验环境 (3/3): 8组比较组与评价指标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실험 환경 (3/3): 8개 비교군 및 평가 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573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486400" cy="1170432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E86C1"/>
                </a:solidFill>
              </a:defRPr>
            </a:pPr>
            <a:r>
              <a:t>G1 · Baseline</a:t>
            </a:r>
          </a:p>
          <a:p>
            <a:pPr>
              <a:defRPr sz="1050">
                <a:solidFill>
                  <a:srgbClr val="566573"/>
                </a:solidFill>
              </a:defRPr>
            </a:pPr>
            <a:r>
              <a:t>无检测 无策略 无Judge     |     Last-Write-Wins만 적용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486400" cy="1170432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E86C1"/>
                </a:solidFill>
              </a:defRPr>
            </a:pPr>
            <a:r>
              <a:t>G2 · StrongOnly</a:t>
            </a:r>
          </a:p>
          <a:p>
            <a:pPr>
              <a:defRPr sz="1050">
                <a:solidFill>
                  <a:srgbClr val="566573"/>
                </a:solidFill>
              </a:defRPr>
            </a:pPr>
            <a:r>
              <a:t>仅强一致性, 无策略     |     강한 일관성만, 전략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87752"/>
            <a:ext cx="5486400" cy="117043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G3 · Timestamp</a:t>
            </a:r>
          </a:p>
          <a:p>
            <a:pPr>
              <a:defRPr sz="1050">
                <a:solidFill>
                  <a:srgbClr val="566573"/>
                </a:solidFill>
              </a:defRPr>
            </a:pPr>
            <a:r>
              <a:t>时间戳优先 + 预过滤     |     타임스탬프 우선 + PreFilter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87752"/>
            <a:ext cx="5486400" cy="117043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G4 · TrustScore</a:t>
            </a:r>
          </a:p>
          <a:p>
            <a:pPr>
              <a:defRPr sz="1050">
                <a:solidFill>
                  <a:srgbClr val="566573"/>
                </a:solidFill>
              </a:defRPr>
            </a:pPr>
            <a:r>
              <a:t>信任度优先 + 预过滤     |     신뢰도 우선 + PreFilter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41064"/>
            <a:ext cx="5486400" cy="1170432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G5 · Leader</a:t>
            </a:r>
          </a:p>
          <a:p>
            <a:pPr>
              <a:defRPr sz="1050">
                <a:solidFill>
                  <a:srgbClr val="566573"/>
                </a:solidFill>
              </a:defRPr>
            </a:pPr>
            <a:r>
              <a:t>领导者仲裁 + 预过滤     |     리더 중재 + PreFilter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41064"/>
            <a:ext cx="5486400" cy="1170432"/>
          </a:xfrm>
          <a:prstGeom prst="roundRect">
            <a:avLst/>
          </a:prstGeom>
          <a:solidFill>
            <a:srgbClr val="FDEFE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G6 · Ablation1 (NoJudge)</a:t>
            </a:r>
          </a:p>
          <a:p>
            <a:pPr>
              <a:defRPr sz="1050">
                <a:solidFill>
                  <a:srgbClr val="566573"/>
                </a:solidFill>
              </a:defRPr>
            </a:pPr>
            <a:r>
              <a:t>层次一致性+策略, 无Judge     |     계층형+전략, Judge 제외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94375"/>
            <a:ext cx="5486400" cy="1170432"/>
          </a:xfrm>
          <a:prstGeom prst="roundRect">
            <a:avLst/>
          </a:prstGeom>
          <a:solidFill>
            <a:srgbClr val="FDEFE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G7 · Ablation2 (NoPreFilter)</a:t>
            </a:r>
          </a:p>
          <a:p>
            <a:pPr>
              <a:defRPr sz="1050">
                <a:solidFill>
                  <a:srgbClr val="566573"/>
                </a:solidFill>
              </a:defRPr>
            </a:pPr>
            <a:r>
              <a:t>层次一致性+策略+Judge, 无预过滤     |     계층형+전략+Judge, PreFilter 제외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294375"/>
            <a:ext cx="5486400" cy="1170432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G8 · FullProposed ⭐</a:t>
            </a:r>
          </a:p>
          <a:p>
            <a:pPr>
              <a:defRPr sz="1050">
                <a:solidFill>
                  <a:srgbClr val="566573"/>
                </a:solidFill>
              </a:defRPr>
            </a:pPr>
            <a:r>
              <a:t>全组件: 层次一致性+策略+Judge+预过滤     |     제안 방식: 모든 구성 요소 통합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492240"/>
            <a:ext cx="11247120" cy="292608"/>
          </a:xfrm>
          <a:prstGeom prst="roundRect">
            <a:avLst/>
          </a:prstGeom>
          <a:solidFill>
            <a:srgbClr val="34495E"/>
          </a:solidFill>
          <a:ln w="19050"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0F0F0"/>
                </a:solidFill>
              </a:defRPr>
            </a:pPr>
            <a:r>
              <a:t>📊  评价指标:  准确率 (Accuracy)  |  一致性维持率 (Consistency Rate)  |  任务成功率 (Task Success)  |  平均延迟 (Avg Latency)  |  LLM调用次数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0F0"/>
                </a:solidFill>
              </a:defRPr>
            </a:pPr>
            <a:r>
              <a:t>层次一致性模型设计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계층형 일관성 모델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573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486400" cy="3200400"/>
          </a:xfrm>
          <a:prstGeom prst="roundRect">
            <a:avLst/>
          </a:prstGeom>
          <a:solidFill>
            <a:srgbClr val="FDEFE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C0392B"/>
                </a:solidFill>
              </a:defRPr>
            </a:pPr>
            <a:r>
              <a:t>🔒 工作内存  |  Working Memory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键: task_plan, task_status, current_step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一致性: 强一致性 (Strong Consistency)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机制: Lock-based Serialization</a:t>
            </a:r>
          </a:p>
          <a:p>
            <a:pPr>
              <a:spcBef>
                <a:spcPts val="100"/>
              </a:spcBef>
              <a:defRPr sz="1200" b="0">
                <a:solidFill>
                  <a:srgbClr val="566573"/>
                </a:solidFill>
              </a:defRPr>
            </a:pPr>
            <a:br/>
            <a:r>
              <a:t>→ 所有读写串行执行</a:t>
            </a:r>
          </a:p>
          <a:p>
            <a:pPr>
              <a:spcBef>
                <a:spcPts val="100"/>
              </a:spcBef>
              <a:defRPr sz="1200" b="0">
                <a:solidFill>
                  <a:srgbClr val="566573"/>
                </a:solidFill>
              </a:defRPr>
            </a:pPr>
            <a:br/>
            <a:r>
              <a:t>→ Agent始终读取最新值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목적: 실시간 협업 정보의 엄격한 정합성 보장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669280" cy="32004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AE60"/>
                </a:solidFill>
              </a:defRPr>
            </a:pPr>
            <a:r>
              <a:t>📚 长期内存  |  Long-term Memory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键: knowledge_base, decision_log, feedback_history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一致性: 最终一致性 (Eventual Consistency)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机制: Non-blocking Write</a:t>
            </a:r>
          </a:p>
          <a:p>
            <a:pPr>
              <a:spcBef>
                <a:spcPts val="100"/>
              </a:spcBef>
              <a:defRPr sz="1200" b="0">
                <a:solidFill>
                  <a:srgbClr val="566573"/>
                </a:solidFill>
              </a:defRPr>
            </a:pPr>
            <a:br/>
            <a:r>
              <a:t>→ 冲突时 Last-Write-Wins 收敛</a:t>
            </a:r>
          </a:p>
          <a:p>
            <a:pPr>
              <a:spcBef>
                <a:spcPts val="100"/>
              </a:spcBef>
              <a:defRPr sz="1200" b="0">
                <a:solidFill>
                  <a:srgbClr val="566573"/>
                </a:solidFill>
              </a:defRPr>
            </a:pPr>
            <a:br/>
            <a:r>
              <a:t>→ 短暂不一致可接受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목적: 축적형 지식의 확장성과 유연성 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11430000" cy="192024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💡 设计理念与实现  |  설계 철학 및 구현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▸ 工作内存访问频繁、错误代价高 → 必须强一致性  |  작업 메모리 = 잠금 기반 직렬화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▸ 长期内存积累知识、容忍短暂延迟 → 最终一致性足够  |  장기 메모리 = 비차단 쓰기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▸ HierarchicalConsistency 类: 根据 memory_type 自动路由到对应协议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▸ upgrade_to_long_term(): 验证后的工作内存条目可安全提升到长期内存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0F0"/>
                </a:solidFill>
              </a:defRPr>
            </a:pPr>
            <a:r>
              <a:t>3阶段冲突解决机制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3단계 충돌 해소 메커니즘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573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566160" cy="32004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7AE60"/>
                </a:solidFill>
              </a:defRPr>
            </a:pPr>
            <a:r>
              <a:t>Phase 1: 冲突检测</a:t>
            </a:r>
            <a:br/>
            <a:r>
              <a:t>단계1: 충돌 탐지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ConflictDetector 对比 AgentState 版本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150" b="1">
                <a:solidFill>
                  <a:srgbClr val="1C1C1C"/>
                </a:solidFill>
              </a:defRPr>
            </a:pPr>
            <a:br/>
            <a:r>
              <a:t>• Visibility: seen_ver &lt; current_ver</a:t>
            </a:r>
          </a:p>
          <a:p>
            <a:pPr>
              <a:spcBef>
                <a:spcPts val="100"/>
              </a:spcBef>
              <a:defRPr sz="1150" b="1">
                <a:solidFill>
                  <a:srgbClr val="1C1C1C"/>
                </a:solidFill>
              </a:defRPr>
            </a:pPr>
            <a:br/>
            <a:r>
              <a:t>• Ordering: 0 &lt; seen_ver &lt; current_ver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150" b="1">
                <a:solidFill>
                  <a:srgbClr val="27AE60"/>
                </a:solidFill>
              </a:defRPr>
            </a:pPr>
            <a:br/>
            <a:r>
              <a:t>→ 输出: 冲突类型 (visibility/ordering)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2560320"/>
            <a:ext cx="256032" cy="38404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566160" cy="320040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Phase 2: 结构预过滤</a:t>
            </a:r>
            <a:br/>
            <a:r>
              <a:t>단계2: 구조적 사전 필터링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三种策略 (择一):</a:t>
            </a:r>
          </a:p>
          <a:p>
            <a:pPr>
              <a:spcBef>
                <a:spcPts val="100"/>
              </a:spcBef>
              <a:defRPr sz="1150" b="1">
                <a:solidFill>
                  <a:srgbClr val="1C1C1C"/>
                </a:solidFill>
              </a:defRPr>
            </a:pPr>
            <a:br/>
            <a:r>
              <a:t>• 时间戳优先: 选最新写入值</a:t>
            </a:r>
          </a:p>
          <a:p>
            <a:pPr>
              <a:spcBef>
                <a:spcPts val="100"/>
              </a:spcBef>
              <a:defRPr sz="1150" b="1">
                <a:solidFill>
                  <a:srgbClr val="1C1C1C"/>
                </a:solidFill>
              </a:defRPr>
            </a:pPr>
            <a:br/>
            <a:r>
              <a:t>• 信任度优先: 选高信任Agent值</a:t>
            </a:r>
          </a:p>
          <a:p>
            <a:pPr>
              <a:spcBef>
                <a:spcPts val="100"/>
              </a:spcBef>
              <a:defRPr sz="1150" b="1">
                <a:solidFill>
                  <a:srgbClr val="1C1C1C"/>
                </a:solidFill>
              </a:defRPr>
            </a:pPr>
            <a:br/>
            <a:r>
              <a:t>• 领导者仲裁: Reviewer规则判断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150" b="1">
                <a:solidFill>
                  <a:srgbClr val="E67E22"/>
                </a:solidFill>
              </a:defRPr>
            </a:pPr>
            <a:br/>
            <a:r>
              <a:t>→ 快速解决结构性冲突</a:t>
            </a:r>
          </a:p>
          <a:p>
            <a:pPr>
              <a:spcBef>
                <a:spcPts val="100"/>
              </a:spcBef>
              <a:defRPr sz="1150" b="1">
                <a:solidFill>
                  <a:srgbClr val="E67E22"/>
                </a:solidFill>
              </a:defRPr>
            </a:pPr>
            <a:br/>
            <a:r>
              <a:t>→ 减少不必要的LLM调用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63840" y="2560320"/>
            <a:ext cx="256032" cy="38404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1234440"/>
            <a:ext cx="3566160" cy="32004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E86C1"/>
                </a:solidFill>
              </a:defRPr>
            </a:pPr>
            <a:r>
              <a:t>Phase 3: Judge Agent 语义判断</a:t>
            </a:r>
            <a:br/>
            <a:r>
              <a:t>단계3: Judge Agent 의미 판단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DeepSeek-chat API 调用</a:t>
            </a:r>
          </a:p>
          <a:p>
            <a:pPr>
              <a:spcBef>
                <a:spcPts val="100"/>
              </a:spcBef>
              <a:defRPr sz="1150" b="1">
                <a:solidFill>
                  <a:srgbClr val="1C1C1C"/>
                </a:solidFill>
              </a:defRPr>
            </a:pPr>
            <a:br/>
            <a:r>
              <a:t>• JSON格式: {conflict, resolution, reasoning}</a:t>
            </a:r>
          </a:p>
          <a:p>
            <a:pPr>
              <a:spcBef>
                <a:spcPts val="100"/>
              </a:spcBef>
              <a:defRPr sz="1150" b="1">
                <a:solidFill>
                  <a:srgbClr val="1C1C1C"/>
                </a:solidFill>
              </a:defRPr>
            </a:pPr>
            <a:br/>
            <a:r>
              <a:t>• 语义矛盾检测 + 最优值选择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150" b="1">
                <a:solidFill>
                  <a:srgbClr val="2E86C1"/>
                </a:solidFill>
              </a:defRPr>
            </a:pPr>
            <a:br/>
            <a:r>
              <a:t>→ 仅对自然语言值调用 (&gt;40字符/含标点)</a:t>
            </a:r>
          </a:p>
          <a:p>
            <a:pPr>
              <a:spcBef>
                <a:spcPts val="100"/>
              </a:spcBef>
              <a:defRPr sz="1150" b="1">
                <a:solidFill>
                  <a:srgbClr val="2E86C1"/>
                </a:solidFill>
              </a:defRPr>
            </a:pPr>
            <a:br/>
            <a:r>
              <a:t>→ needs_semantic_check() 精确筛选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11430000" cy="192024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BDC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⚡ 决策流程  |  통합 의사결정 (ConflictResolver.resolve)</a:t>
            </a:r>
          </a:p>
          <a:p>
            <a:pPr>
              <a:defRPr sz="1000" b="1">
                <a:solidFill>
                  <a:srgbClr val="1A5272"/>
                </a:solidFill>
                <a:latin typeface="Consolas" panose="020B0609020204030204"/>
              </a:defRPr>
            </a:pPr>
            <a:r>
              <a:t>def resolve(key, value_a, value_b):</a:t>
            </a:r>
          </a:p>
          <a:p>
            <a:pPr>
              <a:defRPr sz="1000" b="0">
                <a:solidFill>
                  <a:srgbClr val="1A5272"/>
                </a:solidFill>
                <a:latin typeface="Consolas" panose="020B0609020204030204"/>
              </a:defRPr>
            </a:pPr>
            <a:r>
              <a:t>    1) detect(agent_state, key)        → 结构冲突类型 (visibility / ordering)</a:t>
            </a:r>
          </a:p>
          <a:p>
            <a:pPr>
              <a:defRPr sz="1000" b="0">
                <a:solidFill>
                  <a:srgbClr val="1A5272"/>
                </a:solidFill>
                <a:latin typeface="Consolas" panose="020B0609020204030204"/>
              </a:defRPr>
            </a:pPr>
            <a:r>
              <a:t>    2) if pre_filter: apply(timestamp | trust_score | leader)  → 结构筛选</a:t>
            </a:r>
          </a:p>
          <a:p>
            <a:pPr>
              <a:defRPr sz="1000" b="0">
                <a:solidFill>
                  <a:srgbClr val="1A5272"/>
                </a:solidFill>
                <a:latin typeface="Consolas" panose="020B0609020204030204"/>
              </a:defRPr>
            </a:pPr>
            <a:r>
              <a:t>    3) if judge and needs_semantic_check(v_a, v_b): judge(key, v_a, v_b)  → LLM语义判断</a:t>
            </a:r>
          </a:p>
          <a:p>
            <a:pPr>
              <a:defRPr sz="1000" b="0">
                <a:solidFill>
                  <a:srgbClr val="1A5272"/>
                </a:solidFill>
                <a:latin typeface="Consolas" panose="020B0609020204030204"/>
              </a:defRPr>
            </a:pPr>
            <a:r>
              <a:t>    4) final = judge_result or structural_result or last_write_wins  → 返回最终值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0F0"/>
                </a:solidFill>
              </a:defRPr>
            </a:pPr>
            <a:r>
              <a:t>实验结果 (1/3): 综合性能对比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실험 결과 (1/3): 종합 성능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573"/>
                </a:solidFill>
              </a:defRPr>
            </a:pPr>
            <a:r>
              <a:t>9</a:t>
            </a:r>
          </a:p>
        </p:txBody>
      </p:sp>
      <p:pic>
        <p:nvPicPr>
          <p:cNvPr id="7" name="Picture 6" descr="fig1_overa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6949440" cy="5394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143000"/>
            <a:ext cx="4389120" cy="53949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🏆 核心发现  |  핵심 발견</a:t>
            </a:r>
          </a:p>
          <a:p>
            <a:pPr>
              <a:spcBef>
                <a:spcPts val="100"/>
              </a:spcBef>
              <a:defRPr sz="4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✅ FullProposed 准确率: 93.3%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Baseline (71.1%) 대비 +22.2%p</a:t>
            </a:r>
          </a:p>
          <a:p>
            <a:pPr>
              <a:spcBef>
                <a:spcPts val="100"/>
              </a:spcBef>
              <a:defRPr sz="4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✅ 一致性维持率: 100% (G3-G8)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Baseline &amp; StrongOnly: 0%</a:t>
            </a:r>
          </a:p>
          <a:p>
            <a:pPr>
              <a:spcBef>
                <a:spcPts val="100"/>
              </a:spcBef>
              <a:defRPr sz="4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✅ 延迟: 478.7ms (FullProposed)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Ablation2 (1485.8ms) 대비 3.1×↓</a:t>
            </a:r>
          </a:p>
          <a:p>
            <a:pPr>
              <a:spcBef>
                <a:spcPts val="100"/>
              </a:spcBef>
              <a:defRPr sz="4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✅ 最优结构性策略: Timestamp 91.1%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구조적 충돌에서 가장 효과적</a:t>
            </a:r>
          </a:p>
          <a:p>
            <a:pPr>
              <a:spcBef>
                <a:spcPts val="100"/>
              </a:spcBef>
              <a:defRPr sz="4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⚠️ TrustScore / Leader: 62.2%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语义冲突仅 26.7% — 单策略局限</a:t>
            </a:r>
          </a:p>
          <a:p>
            <a:pPr>
              <a:spcBef>
                <a:spcPts val="100"/>
              </a:spcBef>
              <a:defRPr sz="4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🔥 冲突检测 = 一致性必要条件</a:t>
            </a:r>
          </a:p>
          <a:p>
            <a:pPr>
              <a:spcBef>
                <a:spcPts val="100"/>
              </a:spcBef>
              <a:defRPr sz="1000" b="0">
                <a:solidFill>
                  <a:srgbClr val="566573"/>
                </a:solidFill>
              </a:defRPr>
            </a:pPr>
            <a:br/>
            <a:r>
              <a:t>충돌 탐지는 일관성 확보의 필요조건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0F0"/>
                </a:solidFill>
              </a:defRPr>
            </a:pPr>
            <a:r>
              <a:t>实验结果 (2/3): 场景分析 &amp; 消融实验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실험 결과 (2/3): 시나리오별 분석 및 소거 실험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573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fig2_scenario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548640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图2: 场景精确度对比  |  그림2: 시나리오별 정확도</a:t>
            </a:r>
          </a:p>
        </p:txBody>
      </p:sp>
      <p:pic>
        <p:nvPicPr>
          <p:cNvPr id="9" name="Picture 8" descr="fig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43000"/>
            <a:ext cx="58521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37947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图3: 消融实验结果  |  그림3: 소거 실험 결과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297680"/>
            <a:ext cx="11612880" cy="22860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📊 消融实验关键发现  |  소거 실험 주요 발견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▎Ablation1 (NoJudge): 语义冲突准确率 ↓6.67%p</a:t>
            </a:r>
          </a:p>
          <a:p>
            <a:pPr>
              <a:spcBef>
                <a:spcPts val="100"/>
              </a:spcBef>
              <a:defRPr sz="1050" b="0">
                <a:solidFill>
                  <a:srgbClr val="566573"/>
                </a:solidFill>
              </a:defRPr>
            </a:pPr>
            <a:br/>
            <a:r>
              <a:t>→ Judge Agent 제거 시 의미적 충돌 정확도 6.67%p 하락 → Judge Agent의 의미 충돌 기여도 입증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▎Ablation2 (NoPreFilter): LLM调用 30→90 (+200%), 同时写入准确率仅 46.7%</a:t>
            </a:r>
          </a:p>
          <a:p>
            <a:pPr>
              <a:spcBef>
                <a:spcPts val="100"/>
              </a:spcBef>
              <a:defRPr sz="1050" b="0">
                <a:solidFill>
                  <a:srgbClr val="566573"/>
                </a:solidFill>
              </a:defRPr>
            </a:pPr>
            <a:br/>
            <a:r>
              <a:t>→ 사전 필터링 제거 시 LLM 호출 3배 증가, 동시 쓰기 정확도 46.7%로 급락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▎结论: 预过滤与Judge Agent互补, 两者结合达到最优平衡 (准确率93.3% + 延迟478.7ms)</a:t>
            </a:r>
          </a:p>
          <a:p>
            <a:pPr>
              <a:spcBef>
                <a:spcPts val="100"/>
              </a:spcBef>
              <a:defRPr sz="1050" b="0">
                <a:solidFill>
                  <a:srgbClr val="566573"/>
                </a:solidFill>
              </a:defRPr>
            </a:pPr>
            <a:br/>
            <a:r>
              <a:t>→ 사전 필터링 + Judge Agent 통합이 최적의 정확도-효율성 균형점 달성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0F0"/>
                </a:solidFill>
              </a:defRPr>
            </a:pPr>
            <a:r>
              <a:t>实验结果 (3/3): 延迟分析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실험 결과 (3/3): 지연시간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573"/>
                </a:solidFill>
              </a:defRPr>
            </a:pPr>
            <a:r>
              <a:t>11</a:t>
            </a:r>
          </a:p>
        </p:txBody>
      </p:sp>
      <p:pic>
        <p:nvPicPr>
          <p:cNvPr id="7" name="Picture 6" descr="fig4_boxpl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6949440" cy="5394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143000"/>
            <a:ext cx="4389120" cy="53949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⏱️ 延迟分析  |  지연시간 분석</a:t>
            </a:r>
          </a:p>
          <a:p>
            <a:pPr>
              <a:spcBef>
                <a:spcPts val="100"/>
              </a:spcBef>
              <a:defRPr sz="4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150" b="1">
                <a:solidFill>
                  <a:srgbClr val="1C1C1C"/>
                </a:solidFill>
              </a:defRPr>
            </a:pPr>
            <a:br/>
            <a:r>
              <a:t>🟢 低延迟组 (G1-G6)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  全部场景 &lt; 10ms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  纯结构性处理, 无LLM调用</a:t>
            </a:r>
          </a:p>
          <a:p>
            <a:pPr>
              <a:spcBef>
                <a:spcPts val="100"/>
              </a:spcBef>
              <a:defRPr sz="4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150" b="1">
                <a:solidFill>
                  <a:srgbClr val="1C1C1C"/>
                </a:solidFill>
              </a:defRPr>
            </a:pPr>
            <a:br/>
            <a:r>
              <a:t>🔴 高延迟组 (G7 Ablation2)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  1300-1700ms (全部场景)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  每次运行都调用LLM (90次)</a:t>
            </a:r>
          </a:p>
          <a:p>
            <a:pPr>
              <a:spcBef>
                <a:spcPts val="100"/>
              </a:spcBef>
              <a:defRPr sz="4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150" b="1">
                <a:solidFill>
                  <a:srgbClr val="1C1C1C"/>
                </a:solidFill>
              </a:defRPr>
            </a:pPr>
            <a:br/>
            <a:r>
              <a:t>🟡 适中组 (G8 FullProposed)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  结构性冲突: &lt; 10ms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  语义冲突: LLM调用时增加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  平均延迟: 478.7ms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  比G7 Ablation2低 3.1倍</a:t>
            </a:r>
          </a:p>
          <a:p>
            <a:pPr>
              <a:spcBef>
                <a:spcPts val="100"/>
              </a:spcBef>
              <a:defRPr sz="4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150" b="1">
                <a:solidFill>
                  <a:srgbClr val="1C1C1C"/>
                </a:solidFill>
              </a:defRPr>
            </a:pPr>
            <a:br/>
            <a:r>
              <a:t>💡 预过滤器的实用价值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  阻断不必要的LLM调用</a:t>
            </a:r>
          </a:p>
          <a:p>
            <a:pPr>
              <a:spcBef>
                <a:spcPts val="100"/>
              </a:spcBef>
              <a:defRPr sz="1150" b="0">
                <a:solidFill>
                  <a:srgbClr val="1C1C1C"/>
                </a:solidFill>
              </a:defRPr>
            </a:pPr>
            <a:br/>
            <a:r>
              <a:t>  降低延迟 · 减少变异性 · 节省成本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0F0"/>
                </a:solidFill>
              </a:defRPr>
            </a:pPr>
            <a:r>
              <a:t>结论与贡献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DDEE"/>
                </a:solidFill>
              </a:defRPr>
            </a:pPr>
            <a:r>
              <a:t>결론 및 기여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66573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6858000" cy="49377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🎯 五项核心贡献  |  5대 핵심 기여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1. 形式化定义了三种冲突类型及检测条件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  가시성·순서성·의미적 충돌의 형식적 정의 및 탐지 조건 구체화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2. 提出并实现了层次一致性模型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  작업 메모리(강한 일관성) + 장기 메모리(최종 일관성)의 계층형 설계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3. 集成了三阶段冲突解决管道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  충돌 탐지 → 구조적 사전 필터링 → LLM Judge Agent 의 통합 파이프라인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4. 8组对比实验 + 消融实验, 系统验证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  8개 비교군과 소거 실험을 통한 모듈별 기여도 정량적 검증</a:t>
            </a:r>
          </a:p>
          <a:p>
            <a:pPr>
              <a:spcBef>
                <a:spcPts val="100"/>
              </a:spcBef>
              <a:defRPr sz="1300" b="1">
                <a:solidFill>
                  <a:srgbClr val="1C1C1C"/>
                </a:solidFill>
              </a:defRPr>
            </a:pPr>
            <a:br/>
            <a:r>
              <a:t>5. 完整方案: 准确率93.3%, 一致性100%, 延迟改善3.1倍</a:t>
            </a:r>
          </a:p>
          <a:p>
            <a:pPr>
              <a:spcBef>
                <a:spcPts val="100"/>
              </a:spcBef>
              <a:defRPr sz="1100" b="0">
                <a:solidFill>
                  <a:srgbClr val="566573"/>
                </a:solidFill>
              </a:defRPr>
            </a:pPr>
            <a:br/>
            <a:r>
              <a:t>     FullProposed: 정확도 93.3% (+22.2%p), 일관성 100%, 지연 3.1배 개선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34440"/>
            <a:ext cx="4297680" cy="493776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📌 一句话总结  |  한 줄 요약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계층형 일관성 모델과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구조적-의미적 통합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충돌 해소 메커니즘을 통해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멀티 에이전트 공유 메모리의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신뢰성과 효율성을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동시에 향상시켰다.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200" b="0">
                <a:solidFill>
                  <a:srgbClr val="566573"/>
                </a:solidFill>
              </a:defRPr>
            </a:pPr>
            <a:br/>
            <a:r>
              <a:t>──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通过层次一致性模型与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结构-语义统一冲突解决机制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同时提升了多智能体</a:t>
            </a:r>
          </a:p>
          <a:p>
            <a:pPr>
              <a:spcBef>
                <a:spcPts val="100"/>
              </a:spcBef>
              <a:defRPr sz="1200" b="0">
                <a:solidFill>
                  <a:srgbClr val="1C1C1C"/>
                </a:solidFill>
              </a:defRPr>
            </a:pPr>
            <a:br/>
            <a:r>
              <a:t>共享内存系统的</a:t>
            </a:r>
          </a:p>
          <a:p>
            <a:pPr>
              <a:spcBef>
                <a:spcPts val="100"/>
              </a:spcBef>
              <a:defRPr sz="1200" b="1">
                <a:solidFill>
                  <a:srgbClr val="1C1C1C"/>
                </a:solidFill>
              </a:defRPr>
            </a:pPr>
            <a:br/>
            <a:r>
              <a:t>可靠性与效率。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355080"/>
            <a:ext cx="9418320" cy="384048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0F0"/>
                </a:solidFill>
              </a:defRPr>
            </a:pPr>
            <a:r>
              <a:t>感谢聆听!    |    감사합니다!    |    Thank you!    |    GitHub: ybq9430/multi-agent-shared-memory-experiment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7158</Words>
  <Application>WPS 演示</Application>
  <PresentationFormat>On-screen Show (4:3)</PresentationFormat>
  <Paragraphs>371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Consolas</vt:lpstr>
      <vt:lpstr>Calibri</vt:lpstr>
      <vt:lpstr>BatangChe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·</cp:lastModifiedBy>
  <cp:revision>2</cp:revision>
  <dcterms:created xsi:type="dcterms:W3CDTF">2013-01-27T09:14:00Z</dcterms:created>
  <dcterms:modified xsi:type="dcterms:W3CDTF">2026-05-29T15:05:38Z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3BCCF6638C8246A08E7B748E8CF4B248_12</vt:lpwstr>
  </property>
  <property fmtid="{D5CDD505-2E9C-101B-9397-08002B2CF9AE}" pid="3" name="KSOProductBuildVer">
    <vt:lpwstr>2052-12.1.0.26375</vt:lpwstr>
  </property>
</Properties>
</file>